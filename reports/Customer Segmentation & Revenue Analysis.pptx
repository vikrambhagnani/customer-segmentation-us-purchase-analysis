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70" r:id="rId8"/>
    <p:sldId id="271" r:id="rId9"/>
    <p:sldId id="272" r:id="rId10"/>
    <p:sldId id="273" r:id="rId11"/>
    <p:sldId id="267" r:id="rId12"/>
    <p:sldId id="263" r:id="rId13"/>
    <p:sldId id="268" r:id="rId14"/>
    <p:sldId id="265" r:id="rId15"/>
    <p:sldId id="274" r:id="rId16"/>
    <p:sldId id="26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3" autoAdjust="0"/>
    <p:restoredTop sz="94660"/>
  </p:normalViewPr>
  <p:slideViewPr>
    <p:cSldViewPr snapToGrid="0">
      <p:cViewPr varScale="1">
        <p:scale>
          <a:sx n="60" d="100"/>
          <a:sy n="60" d="100"/>
        </p:scale>
        <p:origin x="70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60E05-B91B-47FE-9CD9-48E1DBBB11B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444B-26F1-419F-B17A-D251E2F52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140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60E05-B91B-47FE-9CD9-48E1DBBB11B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3826444B-26F1-419F-B17A-D251E2F52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384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60E05-B91B-47FE-9CD9-48E1DBBB11B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444B-26F1-419F-B17A-D251E2F52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753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60E05-B91B-47FE-9CD9-48E1DBBB11B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444B-26F1-419F-B17A-D251E2F52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605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60E05-B91B-47FE-9CD9-48E1DBBB11B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444B-26F1-419F-B17A-D251E2F52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46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60E05-B91B-47FE-9CD9-48E1DBBB11B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444B-26F1-419F-B17A-D251E2F52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723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60E05-B91B-47FE-9CD9-48E1DBBB11B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444B-26F1-419F-B17A-D251E2F52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719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60E05-B91B-47FE-9CD9-48E1DBBB11B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444B-26F1-419F-B17A-D251E2F52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564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60E05-B91B-47FE-9CD9-48E1DBBB11B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444B-26F1-419F-B17A-D251E2F52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830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60E05-B91B-47FE-9CD9-48E1DBBB11B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444B-26F1-419F-B17A-D251E2F52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171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60E05-B91B-47FE-9CD9-48E1DBBB11B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444B-26F1-419F-B17A-D251E2F52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2800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60E05-B91B-47FE-9CD9-48E1DBBB11B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444B-26F1-419F-B17A-D251E2F52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0525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60E05-B91B-47FE-9CD9-48E1DBBB11B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444B-26F1-419F-B17A-D251E2F52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3206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60E05-B91B-47FE-9CD9-48E1DBBB11B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444B-26F1-419F-B17A-D251E2F52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6325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60E05-B91B-47FE-9CD9-48E1DBBB11B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444B-26F1-419F-B17A-D251E2F52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7324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60E05-B91B-47FE-9CD9-48E1DBBB11B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444B-26F1-419F-B17A-D251E2F52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7695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60E05-B91B-47FE-9CD9-48E1DBBB11B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444B-26F1-419F-B17A-D251E2F52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21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8460E05-B91B-47FE-9CD9-48E1DBBB11B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826444B-26F1-419F-B17A-D251E2F52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659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C4B1A-B915-32F5-A6AE-2AFDB20E6F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Customer Segmentation &amp; Revenue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5382F1-CB81-2204-133A-8F391C1AE1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Tools: Python, K-Means Clustering, Power BI</a:t>
            </a:r>
          </a:p>
          <a:p>
            <a:r>
              <a:rPr lang="en-US" dirty="0"/>
              <a:t>Author: Vikram Bhagnani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2842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C235C-90B0-9199-4164-C423C3541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/>
              <a:t>Business Problem</a:t>
            </a:r>
            <a:br>
              <a:rPr lang="en-IN" sz="4800" b="1" dirty="0"/>
            </a:br>
            <a:r>
              <a:rPr lang="en-IN" sz="2000" dirty="0"/>
              <a:t>Objective of the Project</a:t>
            </a:r>
            <a:endParaRPr lang="en-IN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51A5A-8A4B-AE57-A3EB-3A2E1DBB3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247899"/>
            <a:ext cx="10860090" cy="3124201"/>
          </a:xfrm>
        </p:spPr>
        <p:txBody>
          <a:bodyPr>
            <a:normAutofit/>
          </a:bodyPr>
          <a:lstStyle/>
          <a:p>
            <a:r>
              <a:rPr lang="en-US" sz="2800" dirty="0"/>
              <a:t> Analyze customer purchasing behavior using retail transaction data</a:t>
            </a:r>
          </a:p>
          <a:p>
            <a:r>
              <a:rPr lang="en-US" sz="2800" dirty="0"/>
              <a:t> Identify product categories where discounts should be applied</a:t>
            </a:r>
          </a:p>
          <a:p>
            <a:r>
              <a:rPr lang="en-US" sz="2800" dirty="0"/>
              <a:t> Evaluate spending patterns across age, season, and location</a:t>
            </a:r>
          </a:p>
          <a:p>
            <a:r>
              <a:rPr lang="en-US" sz="2800" dirty="0"/>
              <a:t> Segment customers to enable targeted marketing strategies</a:t>
            </a:r>
          </a:p>
        </p:txBody>
      </p:sp>
    </p:spTree>
    <p:extLst>
      <p:ext uri="{BB962C8B-B14F-4D97-AF65-F5344CB8AC3E}">
        <p14:creationId xmlns:p14="http://schemas.microsoft.com/office/powerpoint/2010/main" val="2514079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46CB4-D661-AF4C-C791-39AF1871B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4C3BA-F43D-415D-1686-52B719B8C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095499"/>
            <a:ext cx="10018713" cy="3124201"/>
          </a:xfrm>
        </p:spPr>
        <p:txBody>
          <a:bodyPr/>
          <a:lstStyle/>
          <a:p>
            <a:r>
              <a:rPr lang="en-US" dirty="0"/>
              <a:t>Dataset contains 3900 customer transactions</a:t>
            </a:r>
          </a:p>
          <a:p>
            <a:r>
              <a:rPr lang="en-US" dirty="0"/>
              <a:t>Key variables: Age, Category, Purchase Amount, Review Rating</a:t>
            </a:r>
          </a:p>
          <a:p>
            <a:r>
              <a:rPr lang="en-US" dirty="0"/>
              <a:t>Includes Season, Location, Subscription Status, Payment Method</a:t>
            </a:r>
          </a:p>
          <a:p>
            <a:r>
              <a:rPr lang="en-US" dirty="0"/>
              <a:t>Data used to understand purchasing patterns and customer behavior</a:t>
            </a:r>
          </a:p>
        </p:txBody>
      </p:sp>
    </p:spTree>
    <p:extLst>
      <p:ext uri="{BB962C8B-B14F-4D97-AF65-F5344CB8AC3E}">
        <p14:creationId xmlns:p14="http://schemas.microsoft.com/office/powerpoint/2010/main" val="3575181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2FC22-192F-A61B-3C5C-F28BF08F6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/>
              <a:t>Data Preparation</a:t>
            </a:r>
            <a:br>
              <a:rPr lang="en-IN" sz="6000" b="1" dirty="0"/>
            </a:br>
            <a:r>
              <a:rPr lang="en-IN" sz="2000" dirty="0"/>
              <a:t>Data Cleaning &amp; Feature Engineering</a:t>
            </a:r>
            <a:endParaRPr lang="en-IN" sz="6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F3DDC-D937-49C5-279B-45C4D7AE4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3287" y="2438399"/>
            <a:ext cx="10018713" cy="2794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• Checked for missing values and duplicates</a:t>
            </a:r>
            <a:br>
              <a:rPr lang="en-US" dirty="0"/>
            </a:br>
            <a:r>
              <a:rPr lang="en-US" dirty="0"/>
              <a:t>• Created </a:t>
            </a:r>
            <a:r>
              <a:rPr lang="en-US" b="1" dirty="0"/>
              <a:t>Age Group feature</a:t>
            </a:r>
            <a:r>
              <a:rPr lang="en-US" dirty="0"/>
              <a:t> for demographic analysis</a:t>
            </a:r>
            <a:br>
              <a:rPr lang="en-US" dirty="0"/>
            </a:br>
            <a:r>
              <a:rPr lang="en-US" dirty="0"/>
              <a:t>• Aggregated customer-level data for clustering</a:t>
            </a:r>
            <a:br>
              <a:rPr lang="en-US" dirty="0"/>
            </a:br>
            <a:r>
              <a:rPr lang="en-US" dirty="0"/>
              <a:t>• Standardized variables before applying clustering</a:t>
            </a:r>
          </a:p>
        </p:txBody>
      </p:sp>
    </p:spTree>
    <p:extLst>
      <p:ext uri="{BB962C8B-B14F-4D97-AF65-F5344CB8AC3E}">
        <p14:creationId xmlns:p14="http://schemas.microsoft.com/office/powerpoint/2010/main" val="371337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A3DCB-E240-A5F9-B184-08BB2500D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611" y="685800"/>
            <a:ext cx="10018713" cy="1752599"/>
          </a:xfrm>
        </p:spPr>
        <p:txBody>
          <a:bodyPr>
            <a:normAutofit fontScale="90000"/>
          </a:bodyPr>
          <a:lstStyle/>
          <a:p>
            <a:r>
              <a:rPr lang="en-IN" sz="6000" b="1" dirty="0"/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7AF17-195A-03C8-DAD9-EDA3E3E79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1611" y="2209799"/>
            <a:ext cx="10018713" cy="3124201"/>
          </a:xfrm>
        </p:spPr>
        <p:txBody>
          <a:bodyPr/>
          <a:lstStyle/>
          <a:p>
            <a:r>
              <a:rPr lang="en-US" dirty="0"/>
              <a:t> Revenue distribution analyzed across product categories</a:t>
            </a:r>
          </a:p>
          <a:p>
            <a:r>
              <a:rPr lang="en-US" dirty="0"/>
              <a:t> Spending behavior evaluated across age groups</a:t>
            </a:r>
          </a:p>
          <a:p>
            <a:r>
              <a:rPr lang="en-US" dirty="0"/>
              <a:t> Seasonal trends and location impact analyzed</a:t>
            </a:r>
          </a:p>
          <a:p>
            <a:r>
              <a:rPr lang="en-US" dirty="0"/>
              <a:t> Identified major contributors to overall revenue</a:t>
            </a:r>
          </a:p>
        </p:txBody>
      </p:sp>
    </p:spTree>
    <p:extLst>
      <p:ext uri="{BB962C8B-B14F-4D97-AF65-F5344CB8AC3E}">
        <p14:creationId xmlns:p14="http://schemas.microsoft.com/office/powerpoint/2010/main" val="3163623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97363-9F5C-C6BF-6ED6-8F8F91C62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111" y="215900"/>
            <a:ext cx="6757989" cy="850900"/>
          </a:xfrm>
        </p:spPr>
        <p:txBody>
          <a:bodyPr/>
          <a:lstStyle/>
          <a:p>
            <a:r>
              <a:rPr lang="en-IN" b="1" dirty="0"/>
              <a:t>Revenue Insights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853576-68A5-4BD1-155D-D3EA03C24D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77900"/>
            <a:ext cx="12192000" cy="588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845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C03C0-942D-B4D2-3CAB-1AA85BCAB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6210" y="1142999"/>
            <a:ext cx="10018713" cy="3124201"/>
          </a:xfrm>
        </p:spPr>
        <p:txBody>
          <a:bodyPr/>
          <a:lstStyle/>
          <a:p>
            <a:r>
              <a:rPr lang="en-US" sz="3200" b="1" dirty="0"/>
              <a:t>Insights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Customers aged 46–60 generate the highest revenue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Clothing and Accessories contribute the most sales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Spring season shows the highest revenue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5461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0E7F8-F6CD-E74D-473D-31D8EC2F4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6000" b="1" dirty="0"/>
              <a:t>Discount Strategy Recommendation</a:t>
            </a:r>
            <a:br>
              <a:rPr lang="en-IN" sz="6000" b="1" dirty="0"/>
            </a:br>
            <a:r>
              <a:rPr lang="en-US" sz="2000" dirty="0"/>
              <a:t>Where Discounts Should Be Applied</a:t>
            </a:r>
            <a:endParaRPr lang="en-IN" sz="6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886BE-AB40-0D8E-43C8-89A981246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Based on category analysis: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Clothing category responds strongly to discounts</a:t>
            </a:r>
            <a:br>
              <a:rPr lang="en-US" dirty="0"/>
            </a:br>
            <a:r>
              <a:rPr lang="en-US" dirty="0"/>
              <a:t>• Accessories and Home Decor already perform well without heavy discounts</a:t>
            </a:r>
          </a:p>
          <a:p>
            <a:r>
              <a:rPr lang="en-US" dirty="0"/>
              <a:t>Recommendation:</a:t>
            </a:r>
          </a:p>
          <a:p>
            <a:pPr marL="0" indent="0">
              <a:buNone/>
            </a:pPr>
            <a:r>
              <a:rPr lang="en-US" dirty="0"/>
              <a:t>Apply </a:t>
            </a:r>
            <a:r>
              <a:rPr lang="en-US" b="1" dirty="0"/>
              <a:t>targeted discounts to Clothing</a:t>
            </a:r>
            <a:r>
              <a:rPr lang="en-US" dirty="0"/>
              <a:t> to increase conversion and basket size.</a:t>
            </a:r>
          </a:p>
        </p:txBody>
      </p:sp>
    </p:spTree>
    <p:extLst>
      <p:ext uri="{BB962C8B-B14F-4D97-AF65-F5344CB8AC3E}">
        <p14:creationId xmlns:p14="http://schemas.microsoft.com/office/powerpoint/2010/main" val="1091983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F0F93-DEF6-4971-95A2-AD09A9932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" y="685800"/>
            <a:ext cx="11607801" cy="1752599"/>
          </a:xfrm>
        </p:spPr>
        <p:txBody>
          <a:bodyPr>
            <a:noAutofit/>
          </a:bodyPr>
          <a:lstStyle/>
          <a:p>
            <a:r>
              <a:rPr lang="en-IN" sz="6000" b="1" dirty="0"/>
              <a:t>Customer Segmentation Approach</a:t>
            </a:r>
            <a:br>
              <a:rPr lang="en-IN" sz="6000" b="1" dirty="0"/>
            </a:br>
            <a:r>
              <a:rPr lang="en-IN" sz="2000" dirty="0"/>
              <a:t>Clustering Methodology</a:t>
            </a:r>
            <a:endParaRPr lang="en-IN" sz="6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1E8AE-CFD8-473D-D5D4-669E6C4B6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Customer-level dataset created by aggregating transaction data</a:t>
            </a:r>
          </a:p>
          <a:p>
            <a:r>
              <a:rPr lang="en-US" dirty="0"/>
              <a:t> Features standardized before clustering</a:t>
            </a:r>
          </a:p>
          <a:p>
            <a:r>
              <a:rPr lang="en-US" dirty="0"/>
              <a:t> K-Means clustering applied to identify customer segments</a:t>
            </a:r>
          </a:p>
          <a:p>
            <a:r>
              <a:rPr lang="en-US" dirty="0"/>
              <a:t> Optimal number of clusters selected using Elbow Method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8124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BCFBF-F167-CB26-ACB6-7E9033339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1252199" cy="939800"/>
          </a:xfrm>
        </p:spPr>
        <p:txBody>
          <a:bodyPr>
            <a:noAutofit/>
          </a:bodyPr>
          <a:lstStyle/>
          <a:p>
            <a:r>
              <a:rPr lang="en-IN" sz="5400" b="1" dirty="0"/>
              <a:t>Customer Segmentation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294991-D42A-BDE5-BEAE-E6C5FB904C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77619"/>
            <a:ext cx="12192000" cy="5980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212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25F39-98F9-EF81-7FA4-6A5DA9022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673100"/>
            <a:ext cx="10018713" cy="1752599"/>
          </a:xfrm>
        </p:spPr>
        <p:txBody>
          <a:bodyPr/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b="1" dirty="0"/>
              <a:t>Insights from clustering: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C7B4D-AD9E-C19D-07D2-DD1D895D0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095499"/>
            <a:ext cx="10018713" cy="312420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Cluster 2 customers show the </a:t>
            </a:r>
            <a:r>
              <a:rPr lang="en-US" b="1" dirty="0"/>
              <a:t>highest average purchase value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Cluster 3 customers contribute the </a:t>
            </a:r>
            <a:r>
              <a:rPr lang="en-US" b="1" dirty="0"/>
              <a:t>lowest revenue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9500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1A5B2-8664-FC1F-2784-4244641DE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/>
              <a:t>Cluster Profiles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B1DC01-35CB-2497-B73A-1EC7FE4E48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84783"/>
              </p:ext>
            </p:extLst>
          </p:nvPr>
        </p:nvGraphicFramePr>
        <p:xfrm>
          <a:off x="3211511" y="2438399"/>
          <a:ext cx="6072189" cy="3187700"/>
        </p:xfrm>
        <a:graphic>
          <a:graphicData uri="http://schemas.openxmlformats.org/drawingml/2006/table">
            <a:tbl>
              <a:tblPr/>
              <a:tblGrid>
                <a:gridCol w="2833689">
                  <a:extLst>
                    <a:ext uri="{9D8B030D-6E8A-4147-A177-3AD203B41FA5}">
                      <a16:colId xmlns:a16="http://schemas.microsoft.com/office/drawing/2014/main" val="3576578757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1508218209"/>
                    </a:ext>
                  </a:extLst>
                </a:gridCol>
              </a:tblGrid>
              <a:tr h="637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Cluster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0048615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Cluster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High-value customers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211714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Cluster 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Regular customers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296660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Cluster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Moderate spenders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703370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Cluster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Low-value customers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4791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1237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D5F9E-0DFF-93ED-066C-7622FA4BD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/>
              <a:t>Marketing Strategy</a:t>
            </a:r>
            <a:br>
              <a:rPr lang="en-IN" sz="6000" b="1" dirty="0"/>
            </a:br>
            <a:r>
              <a:rPr lang="en-IN" sz="2000" dirty="0"/>
              <a:t>Recommended Business Actions</a:t>
            </a:r>
            <a:endParaRPr lang="en-IN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4A621-BECC-7714-AE68-5EA408373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7000"/>
            <a:ext cx="10018713" cy="2362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Focus loyalty programs on </a:t>
            </a:r>
            <a:r>
              <a:rPr lang="en-US" b="1" dirty="0"/>
              <a:t>high-value customers</a:t>
            </a:r>
          </a:p>
          <a:p>
            <a:r>
              <a:rPr lang="en-US" dirty="0"/>
              <a:t>Offer targeted promotions to </a:t>
            </a:r>
            <a:r>
              <a:rPr lang="en-US" b="1" dirty="0"/>
              <a:t>moderate spenders</a:t>
            </a:r>
          </a:p>
          <a:p>
            <a:r>
              <a:rPr lang="en-US" dirty="0"/>
              <a:t>Create engagement campaigns for </a:t>
            </a:r>
            <a:r>
              <a:rPr lang="en-US" b="1" dirty="0"/>
              <a:t>low-value customers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Goal: Increase customer lifetime value.</a:t>
            </a:r>
          </a:p>
        </p:txBody>
      </p:sp>
    </p:spTree>
    <p:extLst>
      <p:ext uri="{BB962C8B-B14F-4D97-AF65-F5344CB8AC3E}">
        <p14:creationId xmlns:p14="http://schemas.microsoft.com/office/powerpoint/2010/main" val="1324561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B003D-2E8A-94F1-847B-BBA0F3AB4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/>
              <a:t>Business Impact</a:t>
            </a:r>
            <a:br>
              <a:rPr lang="en-IN" sz="6000" b="1" dirty="0"/>
            </a:br>
            <a:r>
              <a:rPr lang="en-IN" sz="2000" dirty="0"/>
              <a:t>Expected Business Benefits</a:t>
            </a:r>
            <a:endParaRPr lang="en-IN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2BF89-F570-1DC5-C792-B7F9C4ABB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2110" y="2438399"/>
            <a:ext cx="10018713" cy="3124201"/>
          </a:xfrm>
        </p:spPr>
        <p:txBody>
          <a:bodyPr/>
          <a:lstStyle/>
          <a:p>
            <a:r>
              <a:rPr lang="en-US" dirty="0"/>
              <a:t>Improved customer targeting</a:t>
            </a:r>
          </a:p>
          <a:p>
            <a:r>
              <a:rPr lang="en-US" dirty="0"/>
              <a:t>Better marketing ROI</a:t>
            </a:r>
          </a:p>
          <a:p>
            <a:r>
              <a:rPr lang="en-US" dirty="0"/>
              <a:t>Increased customer retention</a:t>
            </a:r>
          </a:p>
          <a:p>
            <a:r>
              <a:rPr lang="en-US" dirty="0"/>
              <a:t>Data-driven decision making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4999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C87FE-EAFA-E905-58FC-67D466646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/>
              <a:t>Conclusion</a:t>
            </a:r>
            <a:br>
              <a:rPr lang="en-IN" sz="6000" b="1" dirty="0"/>
            </a:br>
            <a:r>
              <a:rPr lang="en-IN" sz="2000" dirty="0"/>
              <a:t>Project Summary</a:t>
            </a:r>
            <a:endParaRPr lang="en-IN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C94CA-9941-FB7E-443F-BDD0DA1D2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010" y="2705099"/>
            <a:ext cx="10018713" cy="3124201"/>
          </a:xfrm>
        </p:spPr>
        <p:txBody>
          <a:bodyPr/>
          <a:lstStyle/>
          <a:p>
            <a:r>
              <a:rPr lang="en-US" dirty="0"/>
              <a:t>Identified key revenue drivers</a:t>
            </a:r>
          </a:p>
          <a:p>
            <a:r>
              <a:rPr lang="en-US" dirty="0"/>
              <a:t>Segmented customers using machine learning</a:t>
            </a:r>
          </a:p>
          <a:p>
            <a:r>
              <a:rPr lang="en-US" dirty="0"/>
              <a:t>Developed actionable marketing strategies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approach enables businesses to </a:t>
            </a:r>
            <a:r>
              <a:rPr lang="en-US" b="1" dirty="0"/>
              <a:t>increase revenue and improve customer engagement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8348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24725-B555-465D-9E16-707B3ABD6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2730500"/>
            <a:ext cx="10018713" cy="1752599"/>
          </a:xfrm>
        </p:spPr>
        <p:txBody>
          <a:bodyPr>
            <a:normAutofit/>
          </a:bodyPr>
          <a:lstStyle/>
          <a:p>
            <a:r>
              <a:rPr lang="en-IN" sz="8000" b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8958701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173</TotalTime>
  <Words>403</Words>
  <Application>Microsoft Office PowerPoint</Application>
  <PresentationFormat>Widescreen</PresentationFormat>
  <Paragraphs>69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Corbel</vt:lpstr>
      <vt:lpstr>Lato Black</vt:lpstr>
      <vt:lpstr>Wingdings</vt:lpstr>
      <vt:lpstr>Parallax</vt:lpstr>
      <vt:lpstr>Customer Segmentation &amp; Revenue Analysis</vt:lpstr>
      <vt:lpstr>Business Problem Objective of the Project</vt:lpstr>
      <vt:lpstr>Dataset Overview</vt:lpstr>
      <vt:lpstr>Data Preparation Data Cleaning &amp; Feature Engineering</vt:lpstr>
      <vt:lpstr>Exploratory Data Analysis (EDA)</vt:lpstr>
      <vt:lpstr>Revenue Insights Dashboard</vt:lpstr>
      <vt:lpstr>PowerPoint Presentation</vt:lpstr>
      <vt:lpstr>Discount Strategy Recommendation Where Discounts Should Be Applied</vt:lpstr>
      <vt:lpstr>Customer Segmentation Approach Clustering Methodology</vt:lpstr>
      <vt:lpstr>Customer Segmentation Dashboard</vt:lpstr>
      <vt:lpstr>Insights from clustering:</vt:lpstr>
      <vt:lpstr>Cluster Profiles</vt:lpstr>
      <vt:lpstr>Marketing Strategy Recommended Business Actions</vt:lpstr>
      <vt:lpstr>Business Impact Expected Business Benefits</vt:lpstr>
      <vt:lpstr>Conclusion Project Summary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Vikram Bhagnani</dc:creator>
  <cp:lastModifiedBy>Vikram Bhagnani</cp:lastModifiedBy>
  <cp:revision>4</cp:revision>
  <dcterms:created xsi:type="dcterms:W3CDTF">2026-03-09T23:50:33Z</dcterms:created>
  <dcterms:modified xsi:type="dcterms:W3CDTF">2026-03-11T09:50:14Z</dcterms:modified>
</cp:coreProperties>
</file>